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Observations</c:v>
                </c:pt>
              </c:strCache>
            </c:strRef>
          </c:tx>
          <c:spPr>
            <a:solidFill>
              <a:srgbClr val="2D86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Northern Cardinal</c:v>
                  </c:pt>
                  <c:pt idx="1">
                    <c:v>Carolina Wren</c:v>
                  </c:pt>
                  <c:pt idx="2">
                    <c:v>Red-eyed Vireo</c:v>
                  </c:pt>
                  <c:pt idx="3">
                    <c:v>E. Tufted Titmouse</c:v>
                  </c:pt>
                  <c:pt idx="4">
                    <c:v>Indigo Bunting</c:v>
                  </c:pt>
                  <c:pt idx="5">
                    <c:v>Eastern Wood-Pewee</c:v>
                  </c:pt>
                  <c:pt idx="6">
                    <c:v>Field Sparrow</c:v>
                  </c:pt>
                  <c:pt idx="7">
                    <c:v>European Starling</c:v>
                  </c:pt>
                  <c:pt idx="8">
                    <c:v>American Goldfinch</c:v>
                  </c:pt>
                  <c:pt idx="9">
                    <c:v>American Robin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1160</c:v>
                </c:pt>
                <c:pt idx="1">
                  <c:v>1011</c:v>
                </c:pt>
                <c:pt idx="2">
                  <c:v>739</c:v>
                </c:pt>
                <c:pt idx="3">
                  <c:v>728</c:v>
                </c:pt>
                <c:pt idx="4">
                  <c:v>635</c:v>
                </c:pt>
                <c:pt idx="5">
                  <c:v>574</c:v>
                </c:pt>
                <c:pt idx="6">
                  <c:v>542</c:v>
                </c:pt>
                <c:pt idx="7">
                  <c:v>522</c:v>
                </c:pt>
                <c:pt idx="8">
                  <c:v>509</c:v>
                </c:pt>
                <c:pt idx="9">
                  <c:v>496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B3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B3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1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Species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MONO</c:v>
                  </c:pt>
                  <c:pt idx="1">
                    <c:v>MANA</c:v>
                  </c:pt>
                  <c:pt idx="2">
                    <c:v>ANTI</c:v>
                  </c:pt>
                  <c:pt idx="3">
                    <c:v>CHOH</c:v>
                  </c:pt>
                  <c:pt idx="4">
                    <c:v>NACE</c:v>
                  </c:pt>
                  <c:pt idx="5">
                    <c:v>HAFE</c:v>
                  </c:pt>
                  <c:pt idx="6">
                    <c:v>PRWI</c:v>
                  </c:pt>
                  <c:pt idx="7">
                    <c:v>GWMP</c:v>
                  </c:pt>
                  <c:pt idx="8">
                    <c:v>CATO</c:v>
                  </c:pt>
                  <c:pt idx="9">
                    <c:v>ROCR</c:v>
                  </c:pt>
                  <c:pt idx="10">
                    <c:v>WOTR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81</c:v>
                </c:pt>
                <c:pt idx="2">
                  <c:v>81</c:v>
                </c:pt>
                <c:pt idx="3">
                  <c:v>80</c:v>
                </c:pt>
                <c:pt idx="4">
                  <c:v>66</c:v>
                </c:pt>
                <c:pt idx="5">
                  <c:v>55</c:v>
                </c:pt>
                <c:pt idx="6">
                  <c:v>54</c:v>
                </c:pt>
                <c:pt idx="7">
                  <c:v>49</c:v>
                </c:pt>
                <c:pt idx="8">
                  <c:v>46</c:v>
                </c:pt>
                <c:pt idx="9">
                  <c:v>45</c:v>
                </c:pt>
                <c:pt idx="10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B3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B3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13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8653"/>
              </a:solidFill>
              <a:effectLst/>
            </c:spPr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Summer</c:v>
                </c:pt>
                <c:pt idx="1">
                  <c:v>Spring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11481</c:v>
                </c:pt>
                <c:pt idx="1">
                  <c:v>5596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FB3D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13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Observations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Wood Thrush</c:v>
                  </c:pt>
                  <c:pt idx="1">
                    <c:v>Worm-eating Warbler</c:v>
                  </c:pt>
                  <c:pt idx="2">
                    <c:v>Prairie Warbler</c:v>
                  </c:pt>
                  <c:pt idx="3">
                    <c:v>Cerulean Warbler</c:v>
                  </c:pt>
                  <c:pt idx="4">
                    <c:v>Kentucky Warbler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</c:v>
                </c:pt>
                <c:pt idx="1">
                  <c:v>31</c:v>
                </c:pt>
                <c:pt idx="2">
                  <c:v>25</c:v>
                </c:pt>
                <c:pt idx="3">
                  <c:v>7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B3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B3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1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2D865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914400"/>
            <a:ext cx="3657600" cy="3657600"/>
          </a:xfrm>
          <a:prstGeom prst="ellipse">
            <a:avLst/>
          </a:prstGeom>
          <a:solidFill>
            <a:srgbClr val="17A58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E86C1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828800"/>
            <a:ext cx="1097280" cy="4572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93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STUDIES · BIODIVERSITY CONSERVATION · ECOLOGY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Bird Species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 ·  Diversity  ·  Conservation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5047488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5138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17,077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436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5047488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5138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2900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Species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5047488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5138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6364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5047488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5138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09828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Plots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Grassland Ecosystems  ·  2018  ·  National Capital Region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81328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37360" y="1645920"/>
            <a:ext cx="0" cy="42062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88366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17,077 observations across Forest &amp; Grassland ecosystems in 11 National Parks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377440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37744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737360" y="2542032"/>
            <a:ext cx="0" cy="42062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77977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alignment, missing value handling, feature 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273552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273552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737360" y="3438144"/>
            <a:ext cx="0" cy="42062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346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20240" y="367588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Spatial, Species, Environmental, Observer analyses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169664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169664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737360" y="4334256"/>
            <a:ext cx="0" cy="42062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4242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20240" y="45720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species, biodiversity hotspots, habitat preferences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065776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065776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737360" y="5230368"/>
            <a:ext cx="0" cy="42062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5138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Insights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920240" y="546811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Watchlist, at-risk species, stewardship priorities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5961888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961888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737360" y="6126480"/>
            <a:ext cx="0" cy="42062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6035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Recommendations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920240" y="636422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SQL analysis, actionable conservation plan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at a Glance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Grassland Excel files · 11 sheets each · 29 columns per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470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SPLIT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3657600" cy="347472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8,546  (50.0%)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346704"/>
            <a:ext cx="3639312" cy="34747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46704"/>
            <a:ext cx="363931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8,531  (49.9%)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91640"/>
            <a:ext cx="2487168" cy="50292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8308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9360" y="23134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Species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97696" y="1691640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97696" y="1691640"/>
            <a:ext cx="2487168" cy="502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8997696" y="178308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97696" y="23134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Plots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2880360"/>
            <a:ext cx="2487168" cy="5029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97180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09360" y="35021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97696" y="2880360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97696" y="2880360"/>
            <a:ext cx="2487168" cy="50292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27" name="Text 25"/>
          <p:cNvSpPr/>
          <p:nvPr/>
        </p:nvSpPr>
        <p:spPr>
          <a:xfrm>
            <a:off x="8997696" y="297180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997696" y="35021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133088"/>
            <a:ext cx="10927080" cy="2331720"/>
          </a:xfrm>
          <a:prstGeom prst="roundRect">
            <a:avLst>
              <a:gd name="adj" fmla="val 2745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2793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NATIONAL PARKS COVERED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" y="461772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" y="461772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 Antietam NB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16552" y="461772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61772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CATO  Catoctin MP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64424" y="461772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8074152" y="461772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CHOH  C&amp;O Canal NHP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68680" y="489204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978408" y="4892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GWMP  GW Memorial Pkwy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16552" y="489204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4526280" y="4892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  Harpers Ferry NHP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64424" y="489204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8074152" y="4892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 Manassas NBP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8680" y="516636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978408" y="516636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 Monocacy NB (Top: 100 sp)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16552" y="516636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516636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 National Capital East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964424" y="5166360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8074152" y="516636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PRWI  Prince William FP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68680" y="5458968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978408" y="545896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ROCR  Rock Creek Park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16552" y="5458968"/>
            <a:ext cx="3401568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545896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WOTR  Wolf Trap NP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Preprocessing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927080" cy="1097280"/>
          </a:xfrm>
          <a:prstGeom prst="roundRect">
            <a:avLst>
              <a:gd name="adj" fmla="val 5833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72768"/>
            <a:ext cx="64008" cy="109728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82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Alignment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482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 uses 'TaxonCode' (renamed to 'NPSTaxonCode') and 'Previously_Obs' instead of 'Site_Name' — aligned before merging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10927080" cy="1097280"/>
          </a:xfrm>
          <a:prstGeom prst="roundRect">
            <a:avLst>
              <a:gd name="adj" fmla="val 5833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834640"/>
            <a:ext cx="64008" cy="10972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310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cols → 'Unknown' | Numeric cols (Temp, Humidity) → median fill | Boolean cols → False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096512"/>
            <a:ext cx="10927080" cy="1097280"/>
          </a:xfrm>
          <a:prstGeom prst="roundRect">
            <a:avLst>
              <a:gd name="adj" fmla="val 5833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4096512"/>
            <a:ext cx="64008" cy="1097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06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Engineering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parsed to datetime · Month extracted · Season assigned (Spring/Summer/Autumn/Winter)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358384"/>
            <a:ext cx="10927080" cy="1097280"/>
          </a:xfrm>
          <a:prstGeom prst="roundRect">
            <a:avLst>
              <a:gd name="adj" fmla="val 5833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5358384"/>
            <a:ext cx="64008" cy="109728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4681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8338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· Data type standardization · Column consistency across 22 sheets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6236208"/>
            <a:ext cx="1719072" cy="438912"/>
          </a:xfrm>
          <a:prstGeom prst="roundRect">
            <a:avLst>
              <a:gd name="adj" fmla="val 12500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2362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22 sheets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632764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9736" y="6236208"/>
            <a:ext cx="1719072" cy="438912"/>
          </a:xfrm>
          <a:prstGeom prst="roundRect">
            <a:avLst>
              <a:gd name="adj" fmla="val 12500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9736" y="62362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schemas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97096" y="632764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6236208"/>
            <a:ext cx="1719072" cy="438912"/>
          </a:xfrm>
          <a:prstGeom prst="roundRect">
            <a:avLst>
              <a:gd name="adj" fmla="val 12500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62362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62472" y="632764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0488" y="6236208"/>
            <a:ext cx="1719072" cy="438912"/>
          </a:xfrm>
          <a:prstGeom prst="roundRect">
            <a:avLst>
              <a:gd name="adj" fmla="val 12500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62362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27848" y="632764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55864" y="6236208"/>
            <a:ext cx="1719072" cy="438912"/>
          </a:xfrm>
          <a:prstGeom prst="roundRect">
            <a:avLst>
              <a:gd name="adj" fmla="val 12500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5864" y="62362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datasets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93224" y="632764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21240" y="6236208"/>
            <a:ext cx="1719072" cy="438912"/>
          </a:xfrm>
          <a:prstGeom prst="roundRect">
            <a:avLst>
              <a:gd name="adj" fmla="val 12500"/>
            </a:avLst>
          </a:prstGeom>
          <a:solidFill>
            <a:srgbClr val="2D865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62362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EDA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Species &amp; Habitat Distribution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Observed Species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65836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691640"/>
            <a:ext cx="4526280" cy="1627632"/>
          </a:xfrm>
          <a:prstGeom prst="roundRect">
            <a:avLst>
              <a:gd name="adj" fmla="val 3933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847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PER HABITAT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35240" y="2194560"/>
            <a:ext cx="3200400" cy="384048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194560"/>
            <a:ext cx="32004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 —  108 species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2706624"/>
            <a:ext cx="3182112" cy="384048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2706624"/>
            <a:ext cx="3182112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  —  107 species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3456432"/>
            <a:ext cx="4526280" cy="1755648"/>
          </a:xfrm>
          <a:prstGeom prst="roundRect">
            <a:avLst>
              <a:gd name="adj" fmla="val 3646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3524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METHOD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35240" y="3950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26880" y="3950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9,863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424160" y="3950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35240" y="4334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0" y="4334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0" y="4334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47183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26880" y="47183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3,151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424160" y="47183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60920" y="5349240"/>
            <a:ext cx="4526280" cy="1170432"/>
          </a:xfrm>
          <a:prstGeom prst="roundRect">
            <a:avLst>
              <a:gd name="adj" fmla="val 5469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635240" y="5504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35240" y="5833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3,338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Undetermined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8,410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TEMPORAL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Biodiversity Hotspots &amp; Seasonal Patterns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Richness by National Park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6217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95160" y="1389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Observation Distribution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903720" y="169164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38928"/>
            <a:ext cx="11201400" cy="1417320"/>
          </a:xfrm>
          <a:prstGeom prst="roundRect">
            <a:avLst>
              <a:gd name="adj" fmla="val 4516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02920" y="5138928"/>
            <a:ext cx="64008" cy="141732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257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Spatial Finding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52297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Monocacy National Battlefield leads with 100 unique species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followed by Manassas and Antietam (81 each). Wolf Trap National Park has the lowest richness (27 species), suggesting habitat quality differences across the region. Summer dominates with 67.2% of all observations — peak monitoring season.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&amp; Observation Conditions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938528"/>
          </a:xfrm>
          <a:prstGeom prst="roundRect">
            <a:avLst>
              <a:gd name="adj" fmla="val 3302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2606040" cy="54864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379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22.6°C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58952" y="249631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Temperature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862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across all observation sessions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2606040" cy="1938528"/>
          </a:xfrm>
          <a:prstGeom prst="roundRect">
            <a:avLst>
              <a:gd name="adj" fmla="val 3302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691640"/>
            <a:ext cx="260604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8379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21024" y="249631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Humidity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1024" y="2862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high — typical of summer mornings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18504" y="1691640"/>
            <a:ext cx="2606040" cy="1938528"/>
          </a:xfrm>
          <a:prstGeom prst="roundRect">
            <a:avLst>
              <a:gd name="adj" fmla="val 3302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8504" y="1691640"/>
            <a:ext cx="260604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8379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A5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9,863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83096" y="249631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Singing Detections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83096" y="2862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ID method (57.7% of records)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0576" y="1691640"/>
            <a:ext cx="2606040" cy="1938528"/>
          </a:xfrm>
          <a:prstGeom prst="roundRect">
            <a:avLst>
              <a:gd name="adj" fmla="val 3302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0576" y="1691640"/>
            <a:ext cx="26060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18379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345168" y="249631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Obs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45168" y="2862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 of 17,077 records are at-risk species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822192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4023360"/>
            <a:ext cx="347472" cy="347472"/>
          </a:xfrm>
          <a:prstGeom prst="ellipse">
            <a:avLst/>
          </a:prstGeom>
          <a:solidFill>
            <a:srgbClr val="2D8653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44398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Impact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" y="47914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observations recorded under 'No effect on count' conditions — ideal monitoring environment for accurate counts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3822192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0" y="4023360"/>
            <a:ext cx="347472" cy="347472"/>
          </a:xfrm>
          <a:prstGeom prst="ellipse">
            <a:avLst/>
          </a:prstGeom>
          <a:solidFill>
            <a:srgbClr val="17A589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44398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Patterns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47914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birds observed within ≤50 meters — confirming effective short-range detection methodology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18504" y="3822192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19672" y="4023360"/>
            <a:ext cx="347472" cy="34747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444398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Flyover Behavior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19672" y="47914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Flyover observations present in both habitats — grassland shows higher flyover rates due to open terrain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80576" y="3822192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81744" y="4023360"/>
            <a:ext cx="347472" cy="34747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8" name="Text 36"/>
          <p:cNvSpPr/>
          <p:nvPr/>
        </p:nvSpPr>
        <p:spPr>
          <a:xfrm>
            <a:off x="9381744" y="444398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&amp; Sky Conditions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381744" y="47914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winds and clear/partly cloudy skies dominate — consistent with early morning point-count protocol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Species &amp; Watchlist Status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429000" cy="1115568"/>
          </a:xfrm>
          <a:prstGeom prst="roundRect">
            <a:avLst>
              <a:gd name="adj" fmla="val 573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3429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72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Observations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81328"/>
            <a:ext cx="3429000" cy="1115568"/>
          </a:xfrm>
          <a:prstGeom prst="roundRect">
            <a:avLst>
              <a:gd name="adj" fmla="val 573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81328"/>
            <a:ext cx="3429000" cy="54864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572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4340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Species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481328"/>
            <a:ext cx="3429000" cy="1115568"/>
          </a:xfrm>
          <a:prstGeom prst="roundRect">
            <a:avLst>
              <a:gd name="adj" fmla="val 5738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81328"/>
            <a:ext cx="3429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572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9244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At-Risk Species (PIF Watchlist)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2920" y="3090672"/>
          <a:ext cx="6217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995160" y="2788920"/>
            <a:ext cx="4800600" cy="3383280"/>
          </a:xfrm>
          <a:prstGeom prst="roundRect">
            <a:avLst>
              <a:gd name="adj" fmla="val 1892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948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PRIORITIES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69480" y="33832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7516368" y="3273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Thrush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watchlist species (81.7% of at-risk obs) — Forest habitat focus needed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404164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3931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Cerulean Warbler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sensitive to forest fragmentation — PRWI &amp; CHOH priority zones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269480" y="470001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7516368" y="45902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Prairie Warbler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 edge species — habitat restoration key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69480" y="535838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7516368" y="52486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Habitat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species vs 107 in grassland — forests critical for overall richness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 &amp; SQL Analysis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37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139696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metrics, habitat split, top species summary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78808" y="1572768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79976" y="1737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Temporal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79976" y="2139696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trends, monthly patterns, year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63256" y="1572768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64424" y="1737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Spatial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64424" y="2139696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comparisons, plot-level biodiversity hotspots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072384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" y="32369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🦅 Species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363931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metrics, sex ratio, activity patterns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78808" y="3072384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9976" y="32369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Environment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79976" y="363931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sky &amp; wind correlations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63256" y="3072384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64424" y="32369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Distance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64424" y="363931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Flyover analysis, distance distribution by habitat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" y="473659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Observers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" y="5138928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bias, visit patterns, species per observer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78808" y="4572000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79976" y="473659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Conservation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79976" y="5138928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Watchlist, at-risk species, stewardship map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63256" y="4572000"/>
            <a:ext cx="3383280" cy="1298448"/>
          </a:xfrm>
          <a:prstGeom prst="roundRect">
            <a:avLst>
              <a:gd name="adj" fmla="val 493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64424" y="473659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 Queries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64424" y="5138928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with 7 preset queries + custom editor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6355080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3550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73936" y="6355080"/>
            <a:ext cx="1801368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73936" y="635508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21608" y="6355080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63550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01184" y="6355080"/>
            <a:ext cx="1321308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635508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68796" y="6355080"/>
            <a:ext cx="1129284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8796" y="6355080"/>
            <a:ext cx="1129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44384" y="635508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4384" y="63550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15984" y="63550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6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15984" y="6355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2D865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914400"/>
            <a:ext cx="3657600" cy="3657600"/>
          </a:xfrm>
          <a:prstGeom prst="ellipse">
            <a:avLst/>
          </a:prstGeom>
          <a:solidFill>
            <a:srgbClr val="17A58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1097280" cy="4572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36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105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Delivers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94360" y="2633472"/>
            <a:ext cx="10927080" cy="960120"/>
          </a:xfrm>
          <a:prstGeom prst="roundRect">
            <a:avLst>
              <a:gd name="adj" fmla="val 6667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633472"/>
            <a:ext cx="64008" cy="96012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Forest Habitats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0906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Thrush (309 obs) dominates the watchlist — forest conservation at PRWI, CHOH, and ANTI is the highest priority 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730752"/>
            <a:ext cx="10927080" cy="960120"/>
          </a:xfrm>
          <a:prstGeom prst="roundRect">
            <a:avLst>
              <a:gd name="adj" fmla="val 6667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730752"/>
            <a:ext cx="64008" cy="9601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Monocacy Closely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1879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biodiversity park with 100 species — establish it as a reference benchmark for regional health monitoring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828032"/>
            <a:ext cx="10927080" cy="960120"/>
          </a:xfrm>
          <a:prstGeom prst="roundRect">
            <a:avLst>
              <a:gd name="adj" fmla="val 6667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4828032"/>
            <a:ext cx="64008" cy="9601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19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Summer 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28523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67.2% of all observations are in Summer — add Spring coverage to capture migratory species more comprehensively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925312"/>
            <a:ext cx="10927080" cy="960120"/>
          </a:xfrm>
          <a:prstGeom prst="roundRect">
            <a:avLst>
              <a:gd name="adj" fmla="val 6667"/>
            </a:avLst>
          </a:prstGeom>
          <a:solidFill>
            <a:srgbClr val="0F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5925312"/>
            <a:ext cx="64008" cy="960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6016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Observer Capacity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63825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observers recorded 17,077 observations — expand citizen science programs to reduce observer bias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6492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Bird Species Observation Analysis  ·  Environmental Studies &amp; Biodiversity Conservation  ·  2018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 Species Observation Analysis</dc:title>
  <dc:subject>PptxGenJS Presentation</dc:subject>
  <dc:creator>PptxGenJS</dc:creator>
  <cp:lastModifiedBy>PptxGenJS</cp:lastModifiedBy>
  <cp:revision>1</cp:revision>
  <dcterms:created xsi:type="dcterms:W3CDTF">2026-07-05T07:10:40Z</dcterms:created>
  <dcterms:modified xsi:type="dcterms:W3CDTF">2026-07-05T07:10:40Z</dcterms:modified>
</cp:coreProperties>
</file>